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E8703-A372-6D53-1368-DF2379143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51BE22-E15F-02D0-57A4-C81BD39C6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0810B-58FA-62B4-CB57-DAAC7F5F9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6D0CE-3E4D-DF34-98B6-C8C10B314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F8CEF-C788-F9FA-F149-417EBAB23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3499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9A42D-11B5-4DBA-E0AB-6B8527C17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74642-62FE-6EF4-4654-462C5C2C6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0A927-7453-C6AF-321F-3006E006F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CE6C1-878A-739A-854A-A8AEF2B50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6663C-D0B5-8A6E-EFC4-6D9D99C74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0920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5D99-B06A-247D-5BCF-572BCB5CD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2955A-B1FD-136D-109A-DEF474279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F52C-4A03-66A1-54E7-53EB73CF1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DD3E2-DDDC-AFE3-BCC0-ECF77A940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1036-AD66-2ACC-A4E6-856BEA7CF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30942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E852C-BFE1-CABE-070F-17FC48CBF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DE41-CBA9-D313-70B6-BFE397AED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CB152-6AD0-B00D-276F-5511D2FFE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9F37A-C3F9-AC44-EA47-93BBE77CE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7205C-C2F4-89EA-0139-B439080F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23A3A-1459-CF75-2B5D-D1F959CD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61776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A6044-6B68-A947-D67E-2ACFCA286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40B61-6012-D5C1-9585-61C011CF8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EC4DC-9BC3-108A-647E-22CDA01C3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67F7E-6BDD-E46B-8597-D382F00ED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3538EA-4608-6BC6-9699-5A332F778B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C50423-73BA-C5D1-24CD-741E0F21F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AD430E-7201-9AF7-DC30-9CBC39535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54EA83-79A2-9A53-0BF4-4DA47757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2590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B915F-1651-3E65-9075-428E7132C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3A4665-5FAA-C939-6D92-0D3D177B0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D9A69-8941-0F6D-24F4-C1E40866C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AB7B3-34FF-C68A-D521-9EE28958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24467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8F428F-3106-5198-9DBB-2D49A6697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156B05-0C47-923E-0538-2A1CC80A7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84FC5-9B2A-13CE-C098-EF0D2F249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77008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55781-508B-7B02-3511-4714B8C47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9D1CF-FAD5-A5AE-506E-9E3C0AA35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EA481-9CD0-9EC9-943A-F7E9D6F5E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DE84B-9A68-317D-DF32-8221BA803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A88C3-1B6E-2AD5-6DA5-880613E72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D1E62-AB9A-ABE8-9B0D-27F6398F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577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2339D-E12E-1313-CF5B-F9AD408D4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934DD-4E9C-62DA-0FA5-F2BFF36E8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18230-BB89-AF7D-EC77-0FF95229F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A1F86B-0BEC-158D-25C5-D1C4E622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80783-13D5-22E0-9B2C-FE29CA4B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244B5-3FF6-5758-C969-17549A01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42509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5D90-9CFE-CA54-EC65-714A05C1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BA6C2-4EFF-644D-C37A-EEAA8029D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695BD-FA7C-3B1D-9A75-146CC0505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FE7E9-A1C5-BBAF-F24E-EE4AD8E9B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006D9-5DC2-C270-FA3A-DE8487C53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86366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35B7C-1918-DC2D-5BA7-40BADB09BC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A6C656-0B60-2227-F2C8-1C5844D56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E428F-7E29-86BA-3BD3-72EFD4DB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4734-4EDD-4C6C-A8F2-9D431D2418B6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15B51-0A8C-884D-F7E0-19B547C8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9E0CF-18AF-F670-C15F-37A43EF06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8731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399260-B519-8A7E-242D-2A20C279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9E471-6789-585C-31C5-477B1B4E3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8EBAD-2929-9289-A01F-EA8EFAA7E3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284734-4EDD-4C6C-A8F2-9D431D2418B6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73BC7-7272-A6B6-44CF-A7DE62586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1F637-74E5-2021-57B8-3EFCA1B80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ED90FA-9A52-49F6-A258-8C6116B280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7795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0FAF0A-1FED-1CE9-0C92-D928304DB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277655"/>
              </p:ext>
            </p:extLst>
          </p:nvPr>
        </p:nvGraphicFramePr>
        <p:xfrm>
          <a:off x="2221880" y="2546396"/>
          <a:ext cx="5836167" cy="1903705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48344">
                  <a:extLst>
                    <a:ext uri="{9D8B030D-6E8A-4147-A177-3AD203B41FA5}">
                      <a16:colId xmlns:a16="http://schemas.microsoft.com/office/drawing/2014/main" val="955862198"/>
                    </a:ext>
                  </a:extLst>
                </a:gridCol>
                <a:gridCol w="2512609">
                  <a:extLst>
                    <a:ext uri="{9D8B030D-6E8A-4147-A177-3AD203B41FA5}">
                      <a16:colId xmlns:a16="http://schemas.microsoft.com/office/drawing/2014/main" val="1687635297"/>
                    </a:ext>
                  </a:extLst>
                </a:gridCol>
                <a:gridCol w="1375214">
                  <a:extLst>
                    <a:ext uri="{9D8B030D-6E8A-4147-A177-3AD203B41FA5}">
                      <a16:colId xmlns:a16="http://schemas.microsoft.com/office/drawing/2014/main" val="16178772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8bits CRC8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SEQ</a:t>
                      </a:r>
                      <a:br>
                        <a:rPr lang="en-US" dirty="0"/>
                      </a:br>
                      <a:r>
                        <a:rPr lang="en-US" dirty="0"/>
                        <a:t>8 bits</a:t>
                      </a:r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TYPE</a:t>
                      </a:r>
                      <a:br>
                        <a:rPr lang="en-US" dirty="0"/>
                      </a:br>
                      <a:r>
                        <a:rPr lang="en-US" dirty="0"/>
                        <a:t>4bits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829040"/>
                  </a:ext>
                </a:extLst>
              </a:tr>
              <a:tr h="989305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CRC8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Handshake :0xFF</a:t>
                      </a:r>
                      <a:br>
                        <a:rPr lang="en-US" dirty="0"/>
                      </a:br>
                      <a:r>
                        <a:rPr lang="en-US" dirty="0"/>
                        <a:t>Data: Message number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0x0C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2948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F6C7AF8-EBF6-F0B8-718C-DC0D8F679638}"/>
              </a:ext>
            </a:extLst>
          </p:cNvPr>
          <p:cNvSpPr txBox="1"/>
          <p:nvPr/>
        </p:nvSpPr>
        <p:spPr>
          <a:xfrm>
            <a:off x="1849622" y="1938173"/>
            <a:ext cx="658068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800" b="1" dirty="0"/>
              <a:t>ACK FRAME STRUCTURE</a:t>
            </a:r>
            <a:endParaRPr lang="he-IL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0B30ED-C871-B6D7-0AD3-88A4706E03EA}"/>
              </a:ext>
            </a:extLst>
          </p:cNvPr>
          <p:cNvSpPr txBox="1"/>
          <p:nvPr/>
        </p:nvSpPr>
        <p:spPr>
          <a:xfrm>
            <a:off x="2475874" y="4620108"/>
            <a:ext cx="1226696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Type </a:t>
            </a:r>
            <a:br>
              <a:rPr lang="en-US" dirty="0"/>
            </a:br>
            <a:r>
              <a:rPr lang="en-US" dirty="0"/>
              <a:t>Sequence</a:t>
            </a:r>
            <a:br>
              <a:rPr lang="en-US" dirty="0"/>
            </a:br>
            <a:endParaRPr lang="he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255E48-40A4-9139-7210-F41553B74079}"/>
              </a:ext>
            </a:extLst>
          </p:cNvPr>
          <p:cNvSpPr txBox="1"/>
          <p:nvPr/>
        </p:nvSpPr>
        <p:spPr>
          <a:xfrm>
            <a:off x="4077325" y="4620108"/>
            <a:ext cx="145404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Sequence number</a:t>
            </a:r>
            <a:endParaRPr lang="he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14B08D-0201-8E92-534B-BC6C4623A2FA}"/>
              </a:ext>
            </a:extLst>
          </p:cNvPr>
          <p:cNvSpPr txBox="1"/>
          <p:nvPr/>
        </p:nvSpPr>
        <p:spPr>
          <a:xfrm>
            <a:off x="6373319" y="4712441"/>
            <a:ext cx="196204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Error check</a:t>
            </a:r>
          </a:p>
        </p:txBody>
      </p:sp>
    </p:spTree>
    <p:extLst>
      <p:ext uri="{BB962C8B-B14F-4D97-AF65-F5344CB8AC3E}">
        <p14:creationId xmlns:p14="http://schemas.microsoft.com/office/powerpoint/2010/main" val="1565497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2F9E5-9FE9-E48C-81D1-D593DEE36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DDAF5A-8F91-7876-0CE8-806E7328F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608159"/>
              </p:ext>
            </p:extLst>
          </p:nvPr>
        </p:nvGraphicFramePr>
        <p:xfrm>
          <a:off x="715991" y="2652317"/>
          <a:ext cx="10265434" cy="1903705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538749">
                  <a:extLst>
                    <a:ext uri="{9D8B030D-6E8A-4147-A177-3AD203B41FA5}">
                      <a16:colId xmlns:a16="http://schemas.microsoft.com/office/drawing/2014/main" val="955862198"/>
                    </a:ext>
                  </a:extLst>
                </a:gridCol>
                <a:gridCol w="1178571">
                  <a:extLst>
                    <a:ext uri="{9D8B030D-6E8A-4147-A177-3AD203B41FA5}">
                      <a16:colId xmlns:a16="http://schemas.microsoft.com/office/drawing/2014/main" val="1687635297"/>
                    </a:ext>
                  </a:extLst>
                </a:gridCol>
                <a:gridCol w="924020">
                  <a:extLst>
                    <a:ext uri="{9D8B030D-6E8A-4147-A177-3AD203B41FA5}">
                      <a16:colId xmlns:a16="http://schemas.microsoft.com/office/drawing/2014/main" val="2620613503"/>
                    </a:ext>
                  </a:extLst>
                </a:gridCol>
                <a:gridCol w="1051296">
                  <a:extLst>
                    <a:ext uri="{9D8B030D-6E8A-4147-A177-3AD203B41FA5}">
                      <a16:colId xmlns:a16="http://schemas.microsoft.com/office/drawing/2014/main" val="1760604788"/>
                    </a:ext>
                  </a:extLst>
                </a:gridCol>
                <a:gridCol w="1051296">
                  <a:extLst>
                    <a:ext uri="{9D8B030D-6E8A-4147-A177-3AD203B41FA5}">
                      <a16:colId xmlns:a16="http://schemas.microsoft.com/office/drawing/2014/main" val="1100616153"/>
                    </a:ext>
                  </a:extLst>
                </a:gridCol>
                <a:gridCol w="1051295">
                  <a:extLst>
                    <a:ext uri="{9D8B030D-6E8A-4147-A177-3AD203B41FA5}">
                      <a16:colId xmlns:a16="http://schemas.microsoft.com/office/drawing/2014/main" val="1970551147"/>
                    </a:ext>
                  </a:extLst>
                </a:gridCol>
                <a:gridCol w="1051296">
                  <a:extLst>
                    <a:ext uri="{9D8B030D-6E8A-4147-A177-3AD203B41FA5}">
                      <a16:colId xmlns:a16="http://schemas.microsoft.com/office/drawing/2014/main" val="2554382947"/>
                    </a:ext>
                  </a:extLst>
                </a:gridCol>
                <a:gridCol w="2418911">
                  <a:extLst>
                    <a:ext uri="{9D8B030D-6E8A-4147-A177-3AD203B41FA5}">
                      <a16:colId xmlns:a16="http://schemas.microsoft.com/office/drawing/2014/main" val="16178772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8bits CRC8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Empty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Device 5 Id</a:t>
                      </a:r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Device 4 Id</a:t>
                      </a:r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Device 3 Id</a:t>
                      </a:r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Device 2 Id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Root ID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TYPE</a:t>
                      </a:r>
                      <a:br>
                        <a:rPr lang="en-US" dirty="0"/>
                      </a:br>
                      <a:r>
                        <a:rPr lang="en-US" dirty="0"/>
                        <a:t>4bits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829040"/>
                  </a:ext>
                </a:extLst>
              </a:tr>
              <a:tr h="989305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CRC8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00000000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8bits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8bits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8bits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8bits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8bits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0x0E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2948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2569E11-7B65-C19B-09B3-809BD0FE29DB}"/>
              </a:ext>
            </a:extLst>
          </p:cNvPr>
          <p:cNvSpPr txBox="1"/>
          <p:nvPr/>
        </p:nvSpPr>
        <p:spPr>
          <a:xfrm>
            <a:off x="2558367" y="2190836"/>
            <a:ext cx="658068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dirty="0"/>
              <a:t>Forward Chain Path and Explicit ID Accumulation Structure</a:t>
            </a:r>
            <a:endParaRPr lang="he-IL" b="1" dirty="0"/>
          </a:p>
        </p:txBody>
      </p:sp>
    </p:spTree>
    <p:extLst>
      <p:ext uri="{BB962C8B-B14F-4D97-AF65-F5344CB8AC3E}">
        <p14:creationId xmlns:p14="http://schemas.microsoft.com/office/powerpoint/2010/main" val="715815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4F447-F368-A20F-D099-39E3E98C6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C9074B-81DB-524B-1DA1-970D7D6B8991}"/>
              </a:ext>
            </a:extLst>
          </p:cNvPr>
          <p:cNvGraphicFramePr>
            <a:graphicFrameLocks noGrp="1"/>
          </p:cNvGraphicFramePr>
          <p:nvPr/>
        </p:nvGraphicFramePr>
        <p:xfrm>
          <a:off x="715991" y="2652317"/>
          <a:ext cx="10265434" cy="1903705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538749">
                  <a:extLst>
                    <a:ext uri="{9D8B030D-6E8A-4147-A177-3AD203B41FA5}">
                      <a16:colId xmlns:a16="http://schemas.microsoft.com/office/drawing/2014/main" val="955862198"/>
                    </a:ext>
                  </a:extLst>
                </a:gridCol>
                <a:gridCol w="1178571">
                  <a:extLst>
                    <a:ext uri="{9D8B030D-6E8A-4147-A177-3AD203B41FA5}">
                      <a16:colId xmlns:a16="http://schemas.microsoft.com/office/drawing/2014/main" val="1687635297"/>
                    </a:ext>
                  </a:extLst>
                </a:gridCol>
                <a:gridCol w="924020">
                  <a:extLst>
                    <a:ext uri="{9D8B030D-6E8A-4147-A177-3AD203B41FA5}">
                      <a16:colId xmlns:a16="http://schemas.microsoft.com/office/drawing/2014/main" val="2620613503"/>
                    </a:ext>
                  </a:extLst>
                </a:gridCol>
                <a:gridCol w="1051296">
                  <a:extLst>
                    <a:ext uri="{9D8B030D-6E8A-4147-A177-3AD203B41FA5}">
                      <a16:colId xmlns:a16="http://schemas.microsoft.com/office/drawing/2014/main" val="1760604788"/>
                    </a:ext>
                  </a:extLst>
                </a:gridCol>
                <a:gridCol w="1051296">
                  <a:extLst>
                    <a:ext uri="{9D8B030D-6E8A-4147-A177-3AD203B41FA5}">
                      <a16:colId xmlns:a16="http://schemas.microsoft.com/office/drawing/2014/main" val="1100616153"/>
                    </a:ext>
                  </a:extLst>
                </a:gridCol>
                <a:gridCol w="1051295">
                  <a:extLst>
                    <a:ext uri="{9D8B030D-6E8A-4147-A177-3AD203B41FA5}">
                      <a16:colId xmlns:a16="http://schemas.microsoft.com/office/drawing/2014/main" val="1970551147"/>
                    </a:ext>
                  </a:extLst>
                </a:gridCol>
                <a:gridCol w="1051296">
                  <a:extLst>
                    <a:ext uri="{9D8B030D-6E8A-4147-A177-3AD203B41FA5}">
                      <a16:colId xmlns:a16="http://schemas.microsoft.com/office/drawing/2014/main" val="2554382947"/>
                    </a:ext>
                  </a:extLst>
                </a:gridCol>
                <a:gridCol w="2418911">
                  <a:extLst>
                    <a:ext uri="{9D8B030D-6E8A-4147-A177-3AD203B41FA5}">
                      <a16:colId xmlns:a16="http://schemas.microsoft.com/office/drawing/2014/main" val="16178772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8bits CRC8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Target ID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Device 5 Id</a:t>
                      </a:r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Device 4 Id</a:t>
                      </a:r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Device 3 Id</a:t>
                      </a:r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Device 2 Id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Root ID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TYPE</a:t>
                      </a:r>
                      <a:br>
                        <a:rPr lang="en-US" dirty="0"/>
                      </a:br>
                      <a:r>
                        <a:rPr lang="en-US" dirty="0"/>
                        <a:t>4bits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829040"/>
                  </a:ext>
                </a:extLst>
              </a:tr>
              <a:tr h="989305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CRC8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8bits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8bits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8bits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8bits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8bits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8bits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0x0F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2948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16C646B-842F-F1A1-33AC-33E815BF5515}"/>
              </a:ext>
            </a:extLst>
          </p:cNvPr>
          <p:cNvSpPr txBox="1"/>
          <p:nvPr/>
        </p:nvSpPr>
        <p:spPr>
          <a:xfrm>
            <a:off x="1236400" y="2119815"/>
            <a:ext cx="971919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dirty="0"/>
              <a:t>Reverse Path and Tree Graph Synthesis Structure</a:t>
            </a:r>
            <a:endParaRPr lang="he-IL" b="1" dirty="0"/>
          </a:p>
        </p:txBody>
      </p:sp>
    </p:spTree>
    <p:extLst>
      <p:ext uri="{BB962C8B-B14F-4D97-AF65-F5344CB8AC3E}">
        <p14:creationId xmlns:p14="http://schemas.microsoft.com/office/powerpoint/2010/main" val="3398879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551B8-E8B9-1A93-49F7-2DC02C8F6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8BB9E2-DB36-C419-3B44-6D95010A1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240541"/>
              </p:ext>
            </p:extLst>
          </p:nvPr>
        </p:nvGraphicFramePr>
        <p:xfrm>
          <a:off x="715991" y="2652317"/>
          <a:ext cx="10265434" cy="1903705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538749">
                  <a:extLst>
                    <a:ext uri="{9D8B030D-6E8A-4147-A177-3AD203B41FA5}">
                      <a16:colId xmlns:a16="http://schemas.microsoft.com/office/drawing/2014/main" val="955862198"/>
                    </a:ext>
                  </a:extLst>
                </a:gridCol>
                <a:gridCol w="1178571">
                  <a:extLst>
                    <a:ext uri="{9D8B030D-6E8A-4147-A177-3AD203B41FA5}">
                      <a16:colId xmlns:a16="http://schemas.microsoft.com/office/drawing/2014/main" val="1687635297"/>
                    </a:ext>
                  </a:extLst>
                </a:gridCol>
                <a:gridCol w="924020">
                  <a:extLst>
                    <a:ext uri="{9D8B030D-6E8A-4147-A177-3AD203B41FA5}">
                      <a16:colId xmlns:a16="http://schemas.microsoft.com/office/drawing/2014/main" val="2620613503"/>
                    </a:ext>
                  </a:extLst>
                </a:gridCol>
                <a:gridCol w="1051296">
                  <a:extLst>
                    <a:ext uri="{9D8B030D-6E8A-4147-A177-3AD203B41FA5}">
                      <a16:colId xmlns:a16="http://schemas.microsoft.com/office/drawing/2014/main" val="1760604788"/>
                    </a:ext>
                  </a:extLst>
                </a:gridCol>
                <a:gridCol w="1051296">
                  <a:extLst>
                    <a:ext uri="{9D8B030D-6E8A-4147-A177-3AD203B41FA5}">
                      <a16:colId xmlns:a16="http://schemas.microsoft.com/office/drawing/2014/main" val="1100616153"/>
                    </a:ext>
                  </a:extLst>
                </a:gridCol>
                <a:gridCol w="1051295">
                  <a:extLst>
                    <a:ext uri="{9D8B030D-6E8A-4147-A177-3AD203B41FA5}">
                      <a16:colId xmlns:a16="http://schemas.microsoft.com/office/drawing/2014/main" val="1970551147"/>
                    </a:ext>
                  </a:extLst>
                </a:gridCol>
                <a:gridCol w="1051296">
                  <a:extLst>
                    <a:ext uri="{9D8B030D-6E8A-4147-A177-3AD203B41FA5}">
                      <a16:colId xmlns:a16="http://schemas.microsoft.com/office/drawing/2014/main" val="2554382947"/>
                    </a:ext>
                  </a:extLst>
                </a:gridCol>
                <a:gridCol w="2418911">
                  <a:extLst>
                    <a:ext uri="{9D8B030D-6E8A-4147-A177-3AD203B41FA5}">
                      <a16:colId xmlns:a16="http://schemas.microsoft.com/office/drawing/2014/main" val="16178772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8bits CRC8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Mask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Device 5 Id</a:t>
                      </a:r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Device 4 Id</a:t>
                      </a:r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Device 3 Id</a:t>
                      </a:r>
                      <a:endParaRPr lang="he-IL" dirty="0"/>
                    </a:p>
                    <a:p>
                      <a:pPr rtl="1"/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Device 2 Id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Root ID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TYPE</a:t>
                      </a:r>
                      <a:br>
                        <a:rPr lang="en-US" dirty="0"/>
                      </a:br>
                      <a:r>
                        <a:rPr lang="en-US" dirty="0"/>
                        <a:t>4bits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829040"/>
                  </a:ext>
                </a:extLst>
              </a:tr>
              <a:tr h="989305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CRC8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8bits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8bits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8bits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8bits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8bits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8bits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Value:</a:t>
                      </a:r>
                      <a:br>
                        <a:rPr lang="en-US" dirty="0"/>
                      </a:br>
                      <a:r>
                        <a:rPr lang="en-US" dirty="0"/>
                        <a:t>0x0F</a:t>
                      </a:r>
                      <a:endParaRPr lang="he-I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2948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2799930-C7CB-DE2B-8637-BA990E5C16E0}"/>
              </a:ext>
            </a:extLst>
          </p:cNvPr>
          <p:cNvSpPr txBox="1"/>
          <p:nvPr/>
        </p:nvSpPr>
        <p:spPr>
          <a:xfrm>
            <a:off x="1825160" y="2173081"/>
            <a:ext cx="80470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dirty="0"/>
              <a:t>Network Convergence and Consumption Mask Distribution Structure</a:t>
            </a:r>
            <a:endParaRPr lang="he-IL" b="1" dirty="0"/>
          </a:p>
        </p:txBody>
      </p:sp>
    </p:spTree>
    <p:extLst>
      <p:ext uri="{BB962C8B-B14F-4D97-AF65-F5344CB8AC3E}">
        <p14:creationId xmlns:p14="http://schemas.microsoft.com/office/powerpoint/2010/main" val="309666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218</Words>
  <Application>Microsoft Office PowerPoint</Application>
  <PresentationFormat>Widescreen</PresentationFormat>
  <Paragraphs>61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יוני גרינברג</dc:creator>
  <cp:lastModifiedBy>Yoni Grinberg</cp:lastModifiedBy>
  <cp:revision>5</cp:revision>
  <dcterms:created xsi:type="dcterms:W3CDTF">2026-05-16T08:06:16Z</dcterms:created>
  <dcterms:modified xsi:type="dcterms:W3CDTF">2026-06-22T09:03:27Z</dcterms:modified>
</cp:coreProperties>
</file>